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61" r:id="rId4"/>
    <p:sldId id="274" r:id="rId5"/>
    <p:sldId id="278" r:id="rId6"/>
    <p:sldId id="275" r:id="rId7"/>
    <p:sldId id="276" r:id="rId8"/>
    <p:sldId id="277" r:id="rId9"/>
    <p:sldId id="279" r:id="rId10"/>
    <p:sldId id="285" r:id="rId11"/>
    <p:sldId id="284" r:id="rId12"/>
    <p:sldId id="286" r:id="rId13"/>
    <p:sldId id="287" r:id="rId14"/>
    <p:sldId id="283" r:id="rId15"/>
    <p:sldId id="282" r:id="rId16"/>
    <p:sldId id="281" r:id="rId17"/>
    <p:sldId id="280" r:id="rId18"/>
    <p:sldId id="260" r:id="rId19"/>
  </p:sldIdLst>
  <p:sldSz cx="12192000" cy="6858000"/>
  <p:notesSz cx="6858000" cy="9144000"/>
  <p:embeddedFontLst>
    <p:embeddedFont>
      <p:font typeface="ALS Sector Bold" panose="020B0604020202020204" charset="0"/>
      <p:bold r:id="rId21"/>
    </p:embeddedFont>
    <p:embeddedFont>
      <p:font typeface="ALS Sector Regular" panose="020B0604020202020204" charset="0"/>
      <p:regular r:id="rId22"/>
    </p:embeddedFont>
    <p:embeddedFont>
      <p:font typeface="Open Sans" panose="020B0606030504020204" pitchFamily="3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CAB"/>
    <a:srgbClr val="0046A2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84" y="1037"/>
      </p:cViewPr>
      <p:guideLst>
        <p:guide pos="347"/>
        <p:guide orient="horz" pos="1344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59" r:id="rId4"/>
    <p:sldLayoutId id="2147483661" r:id="rId5"/>
    <p:sldLayoutId id="2147483660" r:id="rId6"/>
    <p:sldLayoutId id="2147483662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va333av/VKR_Project/tree/maste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ru-RU" dirty="0"/>
            </a:br>
            <a:r>
              <a:rPr lang="ru-RU" dirty="0"/>
              <a:t>Прогнозирование конечных свойств новых материалов (композиционных материалов)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286" y="4363658"/>
            <a:ext cx="9119010" cy="874168"/>
          </a:xfrm>
        </p:spPr>
        <p:txBody>
          <a:bodyPr/>
          <a:lstStyle/>
          <a:p>
            <a:r>
              <a:rPr lang="ru-RU" dirty="0"/>
              <a:t>Лосева Анна Валериевна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Содержание </a:t>
              </a:r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ВК</a:t>
              </a:r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60669A83-F90E-4A4C-BA00-13CC73D4042F}"/>
              </a:ext>
            </a:extLst>
          </p:cNvPr>
          <p:cNvSpPr/>
          <p:nvPr/>
        </p:nvSpPr>
        <p:spPr>
          <a:xfrm>
            <a:off x="1408143" y="1719562"/>
            <a:ext cx="6217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b="1" dirty="0"/>
              <a:t>Предобработка данных</a:t>
            </a:r>
            <a:endParaRPr sz="1800" b="1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66B2AF8-B3BB-4E6C-B4EF-BA91A7149C6E}"/>
              </a:ext>
            </a:extLst>
          </p:cNvPr>
          <p:cNvGrpSpPr/>
          <p:nvPr/>
        </p:nvGrpSpPr>
        <p:grpSpPr>
          <a:xfrm>
            <a:off x="558782" y="2489251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1F8772-5670-475E-90AF-084D02A24E45}"/>
              </a:ext>
            </a:extLst>
          </p:cNvPr>
          <p:cNvGrpSpPr/>
          <p:nvPr/>
        </p:nvGrpSpPr>
        <p:grpSpPr>
          <a:xfrm>
            <a:off x="558782" y="3443265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0740F-EFCD-41F2-8EB0-E752773D0AE6}"/>
              </a:ext>
            </a:extLst>
          </p:cNvPr>
          <p:cNvGrpSpPr/>
          <p:nvPr/>
        </p:nvGrpSpPr>
        <p:grpSpPr>
          <a:xfrm>
            <a:off x="560162" y="4407979"/>
            <a:ext cx="450202" cy="685765"/>
            <a:chOff x="623996" y="1592262"/>
            <a:chExt cx="333947" cy="508681"/>
          </a:xfrm>
        </p:grpSpPr>
        <p:cxnSp>
          <p:nvCxnSpPr>
            <p:cNvPr id="45" name="Google Shape;123;p4">
              <a:extLst>
                <a:ext uri="{FF2B5EF4-FFF2-40B4-BE49-F238E27FC236}">
                  <a16:creationId xmlns:a16="http://schemas.microsoft.com/office/drawing/2014/main" id="{5C8D2F6A-BB2A-49FD-B94C-250EB763B06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>
              <a:extLst>
                <a:ext uri="{FF2B5EF4-FFF2-40B4-BE49-F238E27FC236}">
                  <a16:creationId xmlns:a16="http://schemas.microsoft.com/office/drawing/2014/main" id="{EB043BAB-1826-41DB-A7FE-AAA09C039F9C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>
              <a:extLst>
                <a:ext uri="{FF2B5EF4-FFF2-40B4-BE49-F238E27FC236}">
                  <a16:creationId xmlns:a16="http://schemas.microsoft.com/office/drawing/2014/main" id="{24ECB75A-09F9-43A5-8D25-D348344E60BF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1DE16C2-2172-463A-93BA-EA11B2417C83}"/>
              </a:ext>
            </a:extLst>
          </p:cNvPr>
          <p:cNvGrpSpPr/>
          <p:nvPr/>
        </p:nvGrpSpPr>
        <p:grpSpPr>
          <a:xfrm>
            <a:off x="558782" y="5383393"/>
            <a:ext cx="450202" cy="685765"/>
            <a:chOff x="623996" y="1592262"/>
            <a:chExt cx="333947" cy="508681"/>
          </a:xfrm>
        </p:grpSpPr>
        <p:cxnSp>
          <p:nvCxnSpPr>
            <p:cNvPr id="49" name="Google Shape;123;p4">
              <a:extLst>
                <a:ext uri="{FF2B5EF4-FFF2-40B4-BE49-F238E27FC236}">
                  <a16:creationId xmlns:a16="http://schemas.microsoft.com/office/drawing/2014/main" id="{73882629-1BAE-438B-9802-2EDD583F7F1E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124;p4">
              <a:extLst>
                <a:ext uri="{FF2B5EF4-FFF2-40B4-BE49-F238E27FC236}">
                  <a16:creationId xmlns:a16="http://schemas.microsoft.com/office/drawing/2014/main" id="{590F5074-56E7-4E5F-A651-A7E31BD5FFB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126;p4">
              <a:extLst>
                <a:ext uri="{FF2B5EF4-FFF2-40B4-BE49-F238E27FC236}">
                  <a16:creationId xmlns:a16="http://schemas.microsoft.com/office/drawing/2014/main" id="{A2CA7045-D48F-4328-8FF7-FF8E4D8ABC1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id="{B392D556-B476-4E1F-958C-31EE7B16300D}"/>
              </a:ext>
            </a:extLst>
          </p:cNvPr>
          <p:cNvSpPr/>
          <p:nvPr/>
        </p:nvSpPr>
        <p:spPr>
          <a:xfrm>
            <a:off x="1408143" y="2658429"/>
            <a:ext cx="6217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b="1" dirty="0"/>
              <a:t>Разработка и обучение моделей</a:t>
            </a:r>
            <a:endParaRPr lang="ru-RU" sz="1800" b="1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id="{BCF65B5B-0337-4C73-B9BB-A05F6916D064}"/>
              </a:ext>
            </a:extLst>
          </p:cNvPr>
          <p:cNvSpPr/>
          <p:nvPr/>
        </p:nvSpPr>
        <p:spPr>
          <a:xfrm>
            <a:off x="843937" y="2739873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id="{4BBDCECC-7AC6-4E39-B4A9-A7C1308CD1E4}"/>
              </a:ext>
            </a:extLst>
          </p:cNvPr>
          <p:cNvSpPr/>
          <p:nvPr/>
        </p:nvSpPr>
        <p:spPr>
          <a:xfrm>
            <a:off x="1382780" y="3656463"/>
            <a:ext cx="6217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b="1" dirty="0"/>
              <a:t>Тестирование модели</a:t>
            </a:r>
            <a:endParaRPr lang="ru-RU" sz="1800" b="1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id="{09A3BA78-83A5-439F-80AC-98893E52CA81}"/>
              </a:ext>
            </a:extLst>
          </p:cNvPr>
          <p:cNvSpPr/>
          <p:nvPr/>
        </p:nvSpPr>
        <p:spPr>
          <a:xfrm>
            <a:off x="843937" y="370971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25;p4">
            <a:extLst>
              <a:ext uri="{FF2B5EF4-FFF2-40B4-BE49-F238E27FC236}">
                <a16:creationId xmlns:a16="http://schemas.microsoft.com/office/drawing/2014/main" id="{3DDF0676-49DA-46BC-9B49-E63651936BD7}"/>
              </a:ext>
            </a:extLst>
          </p:cNvPr>
          <p:cNvSpPr/>
          <p:nvPr/>
        </p:nvSpPr>
        <p:spPr>
          <a:xfrm>
            <a:off x="1408143" y="4587172"/>
            <a:ext cx="879463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b="1" dirty="0"/>
              <a:t>Нейронная сеть для рекомендации соотношения матрица-наполнитель</a:t>
            </a:r>
            <a:endParaRPr lang="ru-RU" sz="1800" b="1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7" name="Google Shape;127;p4">
            <a:extLst>
              <a:ext uri="{FF2B5EF4-FFF2-40B4-BE49-F238E27FC236}">
                <a16:creationId xmlns:a16="http://schemas.microsoft.com/office/drawing/2014/main" id="{52BA7844-74CD-4A10-A920-4E6A0D827A2C}"/>
              </a:ext>
            </a:extLst>
          </p:cNvPr>
          <p:cNvSpPr/>
          <p:nvPr/>
        </p:nvSpPr>
        <p:spPr>
          <a:xfrm>
            <a:off x="843937" y="467714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4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25;p4">
            <a:extLst>
              <a:ext uri="{FF2B5EF4-FFF2-40B4-BE49-F238E27FC236}">
                <a16:creationId xmlns:a16="http://schemas.microsoft.com/office/drawing/2014/main" id="{5196AA80-638D-487F-983B-0DA60BA9BE05}"/>
              </a:ext>
            </a:extLst>
          </p:cNvPr>
          <p:cNvSpPr/>
          <p:nvPr/>
        </p:nvSpPr>
        <p:spPr>
          <a:xfrm>
            <a:off x="1382780" y="5557018"/>
            <a:ext cx="6217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800" b="1" dirty="0"/>
              <a:t>Разработка приложения в </a:t>
            </a:r>
            <a:r>
              <a:rPr lang="en-US" sz="1800" b="1" dirty="0" err="1"/>
              <a:t>Tkinter</a:t>
            </a:r>
            <a:endParaRPr lang="ru-RU" sz="1800" b="1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9" name="Google Shape;127;p4">
            <a:extLst>
              <a:ext uri="{FF2B5EF4-FFF2-40B4-BE49-F238E27FC236}">
                <a16:creationId xmlns:a16="http://schemas.microsoft.com/office/drawing/2014/main" id="{6CBDF430-C68B-42FA-BC4A-87935642BB35}"/>
              </a:ext>
            </a:extLst>
          </p:cNvPr>
          <p:cNvSpPr/>
          <p:nvPr/>
        </p:nvSpPr>
        <p:spPr>
          <a:xfrm>
            <a:off x="836823" y="5618307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5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EB208F7-621F-4826-AC02-D9ACF56C2556}"/>
              </a:ext>
            </a:extLst>
          </p:cNvPr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id="{52F47E68-BBBA-4D50-92F9-0A84552519B8}"/>
              </a:ext>
            </a:extLst>
          </p:cNvPr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Диапазоны для фильтрации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3963D58-FA1E-16D1-E43D-19688E550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7" y="1340335"/>
            <a:ext cx="8045649" cy="4458886"/>
          </a:xfrm>
          <a:prstGeom prst="rect">
            <a:avLst/>
          </a:prstGeom>
        </p:spPr>
      </p:pic>
      <p:sp>
        <p:nvSpPr>
          <p:cNvPr id="34" name="Google Shape;149;p4">
            <a:extLst>
              <a:ext uri="{FF2B5EF4-FFF2-40B4-BE49-F238E27FC236}">
                <a16:creationId xmlns:a16="http://schemas.microsoft.com/office/drawing/2014/main" id="{E8524630-6F6B-4695-AB3F-DEBB05B7CD3C}"/>
              </a:ext>
            </a:extLst>
          </p:cNvPr>
          <p:cNvSpPr txBox="1"/>
          <p:nvPr/>
        </p:nvSpPr>
        <p:spPr>
          <a:xfrm>
            <a:off x="8474033" y="1493010"/>
            <a:ext cx="3316914" cy="4586962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algn="just"/>
            <a:r>
              <a:rPr lang="ru-RU" sz="1800" dirty="0"/>
              <a:t>Аналитические процедуры предварительного анализа проводились параллельно в следующих вариантах состава данных:</a:t>
            </a:r>
          </a:p>
          <a:p>
            <a:endParaRPr lang="ru-RU" sz="1800" dirty="0"/>
          </a:p>
          <a:p>
            <a:pPr marL="285750" indent="-285750">
              <a:buFontTx/>
              <a:buChar char="-"/>
            </a:pPr>
            <a:r>
              <a:rPr lang="ru-RU" sz="1800" dirty="0"/>
              <a:t>по всей отфильтрованной выборке (469 наблюдений);</a:t>
            </a:r>
          </a:p>
          <a:p>
            <a:pPr marL="285750" indent="-285750">
              <a:buFontTx/>
              <a:buChar char="-"/>
            </a:pPr>
            <a:r>
              <a:rPr lang="ru-RU" sz="1800" dirty="0"/>
              <a:t>по группе 0 градусов (223 наблюдения);</a:t>
            </a:r>
          </a:p>
          <a:p>
            <a:r>
              <a:rPr lang="ru-RU" sz="1800" dirty="0"/>
              <a:t>- по группе 90 градусов (246 наблюдений).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600" b="1" dirty="0">
              <a:solidFill>
                <a:schemeClr val="l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25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CB7A-F1DA-8C93-4CE1-1D2AA7CF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AFD1CA-9DEE-5EED-7E5A-AF334DD8C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12D0929-BE4F-91AF-D973-5980EB198F4D}"/>
              </a:ext>
            </a:extLst>
          </p:cNvPr>
          <p:cNvGrpSpPr/>
          <p:nvPr/>
        </p:nvGrpSpPr>
        <p:grpSpPr>
          <a:xfrm>
            <a:off x="2975376" y="469293"/>
            <a:ext cx="8586972" cy="666000"/>
            <a:chOff x="1476754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465B46A7-ED43-CBA3-77A2-B9D5A0FB69E8}"/>
                </a:ext>
              </a:extLst>
            </p:cNvPr>
            <p:cNvSpPr/>
            <p:nvPr/>
          </p:nvSpPr>
          <p:spPr>
            <a:xfrm>
              <a:off x="1476754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Визуализация распределений и выбросов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55B884AC-494D-6EBA-4E63-1A20F88CEBCF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5D6995F6-83DB-B02F-6FD5-B7BA80D8D3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42E6001-9AAB-9C5E-1680-868B2C1DB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4" y="1535480"/>
            <a:ext cx="11874770" cy="401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6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B5F2-108D-9771-BEC3-BB929E5D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EB9EEF-7354-F200-768C-D555F401BE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64CCDC0-0336-15E9-A82C-E174398DD1C6}"/>
              </a:ext>
            </a:extLst>
          </p:cNvPr>
          <p:cNvGrpSpPr/>
          <p:nvPr/>
        </p:nvGrpSpPr>
        <p:grpSpPr>
          <a:xfrm>
            <a:off x="2975376" y="469293"/>
            <a:ext cx="8586972" cy="666000"/>
            <a:chOff x="1476754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448037F8-C7B4-DD5F-5E02-6B7CF83D6C8E}"/>
                </a:ext>
              </a:extLst>
            </p:cNvPr>
            <p:cNvSpPr/>
            <p:nvPr/>
          </p:nvSpPr>
          <p:spPr>
            <a:xfrm>
              <a:off x="1476754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Визуализация распределений и выбросов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593061ED-02E7-F1F0-0FEE-7F9274307273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B2A4913F-7DB9-807B-50AB-9DDBBB95A9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E2C82A6-A794-707E-2D12-BDDA57AD6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366" y="1135293"/>
            <a:ext cx="8467267" cy="563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45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0DB7-F01A-E838-2902-6F32E5CF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1F53EF-041E-E2E7-E248-2E1B42D0F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7ABEFB3-7813-3889-BE6C-C0B14318B13B}"/>
              </a:ext>
            </a:extLst>
          </p:cNvPr>
          <p:cNvGrpSpPr/>
          <p:nvPr/>
        </p:nvGrpSpPr>
        <p:grpSpPr>
          <a:xfrm>
            <a:off x="2903186" y="505388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9EEC4E1-A62B-0982-5B54-02685D2886F6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Сравнение доли выбросов в выборке и ее подгруппах, %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F3948BB0-BD4A-6147-C19B-E01A2B528918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DF45C1C7-786E-3A4F-B1F3-01E52ED00B5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DC56894-F2F6-78CF-5C31-1E8B787BA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2" y="1479806"/>
            <a:ext cx="11217506" cy="42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DCA7-E429-5703-9816-86B376D8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7D4B70-0677-D274-1395-5FA1D4F0A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263B73A-A596-CD8A-E658-6CC4DB62BEF0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0304E57-75E9-F064-13C7-B542161B5C81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Описательные статистики выборки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C0C33710-207F-76E0-1C38-253CCB51D3C7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E1C64F36-5069-4D66-3EEC-F0093154CA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CC8AD05-25AA-129B-CCED-1F6D5F9D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8" y="1331177"/>
            <a:ext cx="11309684" cy="48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7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CC95-9B5D-260C-D5B3-9200E1C6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B6D9BB-A4CE-3D15-59F6-7E301DE97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BD9ED7F-0E74-29A5-D09F-76E9852678BC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30938DD-B04A-7EE7-9A84-E4288487221D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Графики корреляционного поля между всеми парами числовых переменных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C5B9304-5282-1324-8315-AD689576F64A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37B7119F-8F41-CA85-6878-AF75869C625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B7B1AED-54A4-7AAD-BCD7-81B435561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465" y="1330452"/>
            <a:ext cx="5335123" cy="537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7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43A64-D52E-E733-B862-E3E66E43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A5331C-50D7-D95D-5961-42CEED806D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0F34716-16E3-3D2E-7E9F-F0EF221813A2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41ADCE2-F582-E538-CACA-21394FBD8E68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2.2. Разработка и обучение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F99ABD37-A220-A24E-4398-52AA87B6DE58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B93D06-8579-7FEF-ACBD-F80C8C592F5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3FE4E24-8B56-6BF0-76F3-76A8F4ED7890}"/>
              </a:ext>
            </a:extLst>
          </p:cNvPr>
          <p:cNvSpPr txBox="1"/>
          <p:nvPr/>
        </p:nvSpPr>
        <p:spPr>
          <a:xfrm>
            <a:off x="273628" y="1583600"/>
            <a:ext cx="53451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Для прогноза модуля упругости при растяжении и прочности при растяжении применялся одинаковый набор моделей </a:t>
            </a:r>
            <a:r>
              <a:rPr lang="en-US" sz="2400" dirty="0">
                <a:effectLst/>
                <a:latin typeface="Arial"/>
                <a:ea typeface="Times New Roman" panose="02020603050405020304" pitchFamily="18" charset="0"/>
              </a:rPr>
              <a:t>ML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, который включает:</a:t>
            </a:r>
          </a:p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endParaRPr lang="ru-RU" sz="2400" dirty="0">
              <a:effectLst/>
              <a:latin typeface="Arial"/>
              <a:ea typeface="Times New Roman" panose="02020603050405020304" pitchFamily="18" charset="0"/>
            </a:endParaRPr>
          </a:p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- Линейную регрессию (</a:t>
            </a:r>
            <a:r>
              <a:rPr lang="ru-RU" sz="2400" dirty="0" err="1">
                <a:effectLst/>
                <a:latin typeface="Arial"/>
                <a:ea typeface="Times New Roman" panose="02020603050405020304" pitchFamily="18" charset="0"/>
              </a:rPr>
              <a:t>Linear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Arial"/>
                <a:ea typeface="Times New Roman" panose="02020603050405020304" pitchFamily="18" charset="0"/>
              </a:rPr>
              <a:t>Regression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);</a:t>
            </a:r>
          </a:p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- Гребневую регрессию </a:t>
            </a:r>
            <a:r>
              <a:rPr lang="en-US" sz="2400" dirty="0">
                <a:effectLst/>
                <a:latin typeface="Arial"/>
                <a:ea typeface="Times New Roman" panose="02020603050405020304" pitchFamily="18" charset="0"/>
              </a:rPr>
              <a:t>Ridge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 (</a:t>
            </a:r>
            <a:r>
              <a:rPr lang="en-US" sz="2400" dirty="0">
                <a:effectLst/>
                <a:latin typeface="Arial"/>
                <a:ea typeface="Times New Roman" panose="02020603050405020304" pitchFamily="18" charset="0"/>
              </a:rPr>
              <a:t>L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2-Регуляризация)</a:t>
            </a:r>
          </a:p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- </a:t>
            </a:r>
            <a:r>
              <a:rPr lang="en-US" sz="2400" dirty="0">
                <a:effectLst/>
                <a:latin typeface="Arial"/>
                <a:ea typeface="Times New Roman" panose="02020603050405020304" pitchFamily="18" charset="0"/>
              </a:rPr>
              <a:t>Lasso 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(</a:t>
            </a:r>
            <a:r>
              <a:rPr lang="en-US" sz="2400" dirty="0">
                <a:effectLst/>
                <a:latin typeface="Arial"/>
                <a:ea typeface="Times New Roman" panose="02020603050405020304" pitchFamily="18" charset="0"/>
              </a:rPr>
              <a:t>L</a:t>
            </a:r>
            <a:r>
              <a:rPr lang="ru-RU" sz="2400" dirty="0">
                <a:effectLst/>
                <a:latin typeface="Arial"/>
                <a:ea typeface="Times New Roman" panose="02020603050405020304" pitchFamily="18" charset="0"/>
              </a:rPr>
              <a:t>1-Регуляризация)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6F561-825A-E7B8-D9F1-616173D52548}"/>
              </a:ext>
            </a:extLst>
          </p:cNvPr>
          <p:cNvSpPr txBox="1"/>
          <p:nvPr/>
        </p:nvSpPr>
        <p:spPr>
          <a:xfrm>
            <a:off x="6665495" y="1583600"/>
            <a:ext cx="49570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исходные данные отфильтровывались по факторным и целевым переменным , </a:t>
            </a:r>
            <a:r>
              <a:rPr lang="en-US" sz="2400" dirty="0"/>
              <a:t>X</a:t>
            </a:r>
            <a:r>
              <a:rPr lang="ru-RU" sz="2400" dirty="0"/>
              <a:t> и </a:t>
            </a:r>
            <a:r>
              <a:rPr lang="en-US" sz="2400" dirty="0"/>
              <a:t>Y</a:t>
            </a: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разбиение на тренировочные и тестовые выборки в пропорций 60 / 40, с учетом малого размера выборки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с помощью функции </a:t>
            </a:r>
            <a:r>
              <a:rPr lang="ru-RU" sz="2400" dirty="0" err="1"/>
              <a:t>StandardScaler</a:t>
            </a:r>
            <a:r>
              <a:rPr lang="ru-RU" sz="2400" dirty="0"/>
              <a:t>() происходила стандартизация выборок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обучение моделей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A383E06-9209-EA89-DDAD-3CAE5F754D34}"/>
              </a:ext>
            </a:extLst>
          </p:cNvPr>
          <p:cNvSpPr/>
          <p:nvPr/>
        </p:nvSpPr>
        <p:spPr>
          <a:xfrm>
            <a:off x="7003278" y="6107915"/>
            <a:ext cx="2477606" cy="2807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137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1FA8-AA34-C972-9E01-ADB3BCFC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56FB67-B469-BD0C-6377-000A4530BB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9C15B44-B091-1DDA-52E2-DC50FF5C54F0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2FBD3D8-5754-AC64-BBE5-F0031FDB6FDE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Коды обучения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72AFF65-0AAF-39D2-4548-D453AEB61D19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BEDE5A7D-6471-714F-8D77-72D936D2CB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EA76F75-623B-D286-D93B-B6018259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23" y="1828085"/>
            <a:ext cx="7261614" cy="11097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5874D-A60F-4E59-D229-EAD63F9A4752}"/>
              </a:ext>
            </a:extLst>
          </p:cNvPr>
          <p:cNvSpPr txBox="1"/>
          <p:nvPr/>
        </p:nvSpPr>
        <p:spPr>
          <a:xfrm>
            <a:off x="2842970" y="1300326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Обучение линейной регрессии</a:t>
            </a:r>
            <a:endParaRPr lang="ru-RU" sz="2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5EAA1-17B7-2E55-0AA1-F6D9FAFD0530}"/>
              </a:ext>
            </a:extLst>
          </p:cNvPr>
          <p:cNvSpPr txBox="1"/>
          <p:nvPr/>
        </p:nvSpPr>
        <p:spPr>
          <a:xfrm>
            <a:off x="2710680" y="3065464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Обучение </a:t>
            </a:r>
            <a:r>
              <a:rPr lang="en-US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Ridge-</a:t>
            </a:r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регрессии</a:t>
            </a:r>
            <a:endParaRPr lang="ru-RU" sz="20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863C3-8686-BB2C-2461-38414D68ADA0}"/>
              </a:ext>
            </a:extLst>
          </p:cNvPr>
          <p:cNvSpPr txBox="1"/>
          <p:nvPr/>
        </p:nvSpPr>
        <p:spPr>
          <a:xfrm>
            <a:off x="2863733" y="4924122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Обучение модели </a:t>
            </a:r>
            <a:r>
              <a:rPr lang="en-US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Lasso</a:t>
            </a:r>
            <a:endParaRPr lang="ru-RU" sz="2000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60A528-E9AF-47F1-A850-58FF31638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23" y="3521710"/>
            <a:ext cx="7298558" cy="1317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AF650B-92E3-21F3-8206-33BC6DCCD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835" y="5440246"/>
            <a:ext cx="7432646" cy="11097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703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4435-6E20-8080-5707-4F9FC921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FB24F2-F0A0-F4F4-B510-CBB025DBB2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1A56CE8-FB7A-54CD-26A2-382C97E9391C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842851B-0AC1-A665-4887-E147E9814468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2.3. Тестирование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B60F710E-BDD0-2D62-BF80-03346995843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70446F44-BB0E-E0A8-464B-F3B708EA7C6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AD34DC-4B9A-7280-80A2-F07D5D0870B9}"/>
              </a:ext>
            </a:extLst>
          </p:cNvPr>
          <p:cNvSpPr txBox="1"/>
          <p:nvPr/>
        </p:nvSpPr>
        <p:spPr>
          <a:xfrm>
            <a:off x="2867033" y="1625179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Точность модели линейной регрессии</a:t>
            </a:r>
            <a:endParaRPr lang="ru-RU" sz="2000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C468E-5D0D-6864-1CF3-84C581B3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11" y="2217794"/>
            <a:ext cx="4789454" cy="42162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1546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B351-A1D7-46BB-90E2-0FF28C6E4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98E392-4672-FD29-4BD9-0AD12FF521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4558E70-BD97-07D6-2FAF-BE1C89338853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4B1F6A26-1AE2-0D68-716E-F0D07A7F435E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2.3. Тестирование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CC510DFD-F788-6D43-CB44-9DFAD6F492C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1FCBE57B-061B-7820-184B-EE08D0B487F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939F5A-0A43-FA67-B169-898751CE42B0}"/>
              </a:ext>
            </a:extLst>
          </p:cNvPr>
          <p:cNvSpPr txBox="1"/>
          <p:nvPr/>
        </p:nvSpPr>
        <p:spPr>
          <a:xfrm>
            <a:off x="2830939" y="1625179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Точность моделей </a:t>
            </a:r>
            <a:r>
              <a:rPr lang="ru-RU" sz="2000" kern="0" dirty="0" err="1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Ridge</a:t>
            </a:r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 и </a:t>
            </a:r>
            <a:r>
              <a:rPr lang="ru-RU" sz="2000" kern="0" dirty="0" err="1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Lasso</a:t>
            </a:r>
            <a:endParaRPr lang="ru-RU" sz="20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9B4132-6F5C-1F30-98D6-E59FEB1E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71" y="2179854"/>
            <a:ext cx="10551493" cy="36434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5803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1195-7CEA-69CB-605E-07B5CB85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FF02FF-B025-A759-AE77-07FB21324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ABF3514-B870-80C0-AA63-6DCA79850F90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37971DE-A807-3F0C-F3A8-4A0CBFD6B90F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2.3. Тестирование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5BC19147-BDA6-F798-F92C-814021DD7F9B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D2E7EA4D-616B-C7B5-FF90-C3D0CE3429F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17A039-F5D2-FBD8-F5DE-9AEC00763779}"/>
              </a:ext>
            </a:extLst>
          </p:cNvPr>
          <p:cNvSpPr txBox="1"/>
          <p:nvPr/>
        </p:nvSpPr>
        <p:spPr>
          <a:xfrm>
            <a:off x="2830939" y="1625179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Визуализация качества прогнозов</a:t>
            </a:r>
            <a:endParaRPr lang="ru-RU" sz="20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C9963-72FF-2A6B-2342-B5066E44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84" y="2298607"/>
            <a:ext cx="10482200" cy="3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30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B821-7FD4-C7C8-4C69-86EC7178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9A26BA-AF2D-1ECD-4997-63D2630056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BE30222-7F68-9E85-773A-83720471BE02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1233959-FB48-C4AE-A7E9-068699F60112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2.4. Нейронная сеть для рекомендации соотношения матрица-наполнитель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069380A2-DD95-E600-5969-2DCF825187BA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6E2E6A89-9AE3-A987-20A8-9C6F999F60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32DB5D-78C7-6A05-A0F1-17332EC9D7A3}"/>
              </a:ext>
            </a:extLst>
          </p:cNvPr>
          <p:cNvSpPr txBox="1"/>
          <p:nvPr/>
        </p:nvSpPr>
        <p:spPr>
          <a:xfrm>
            <a:off x="2830939" y="1625179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kern="0" dirty="0">
                <a:solidFill>
                  <a:srgbClr val="0070C0"/>
                </a:solidFill>
                <a:effectLst/>
                <a:latin typeface="Arial"/>
                <a:ea typeface="Times New Roman" panose="02020603050405020304" pitchFamily="18" charset="0"/>
              </a:rPr>
              <a:t>Сравнение метрик качества моделей</a:t>
            </a:r>
            <a:endParaRPr lang="ru-RU" sz="2000" dirty="0">
              <a:solidFill>
                <a:srgbClr val="0070C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DD7F74-35D7-0A98-1ED7-BD0EAFC80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779840"/>
              </p:ext>
            </p:extLst>
          </p:nvPr>
        </p:nvGraphicFramePr>
        <p:xfrm>
          <a:off x="420687" y="2495593"/>
          <a:ext cx="11350625" cy="14546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6019">
                  <a:extLst>
                    <a:ext uri="{9D8B030D-6E8A-4147-A177-3AD203B41FA5}">
                      <a16:colId xmlns:a16="http://schemas.microsoft.com/office/drawing/2014/main" val="2657011150"/>
                    </a:ext>
                  </a:extLst>
                </a:gridCol>
                <a:gridCol w="2442655">
                  <a:extLst>
                    <a:ext uri="{9D8B030D-6E8A-4147-A177-3AD203B41FA5}">
                      <a16:colId xmlns:a16="http://schemas.microsoft.com/office/drawing/2014/main" val="1373004485"/>
                    </a:ext>
                  </a:extLst>
                </a:gridCol>
                <a:gridCol w="2839926">
                  <a:extLst>
                    <a:ext uri="{9D8B030D-6E8A-4147-A177-3AD203B41FA5}">
                      <a16:colId xmlns:a16="http://schemas.microsoft.com/office/drawing/2014/main" val="3673128754"/>
                    </a:ext>
                  </a:extLst>
                </a:gridCol>
                <a:gridCol w="2992025">
                  <a:extLst>
                    <a:ext uri="{9D8B030D-6E8A-4147-A177-3AD203B41FA5}">
                      <a16:colId xmlns:a16="http://schemas.microsoft.com/office/drawing/2014/main" val="2267531335"/>
                    </a:ext>
                  </a:extLst>
                </a:gridCol>
              </a:tblGrid>
              <a:tr h="223708"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Модель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MAE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>
                          <a:effectLst/>
                        </a:rPr>
                        <a:t>RMSE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>
                          <a:effectLst/>
                        </a:rPr>
                        <a:t>R²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487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Нейросеть MLP 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0,6660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0,8259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-0,1200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34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>
                          <a:effectLst/>
                        </a:rPr>
                        <a:t>CatBoost 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>
                          <a:effectLst/>
                        </a:rPr>
                        <a:t>0,6285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0,7776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buNone/>
                        <a:tabLst>
                          <a:tab pos="2057400" algn="l"/>
                        </a:tabLst>
                      </a:pPr>
                      <a:r>
                        <a:rPr lang="ru-RU" sz="2400" dirty="0">
                          <a:effectLst/>
                        </a:rPr>
                        <a:t>0,0071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196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766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0C02-C193-EBE0-3C99-A20149E5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F88C3F-FB4F-7410-BAD9-7073E09416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F5727BD-8583-83D3-02D4-919607DA64F5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0898CC01-A027-5963-3193-E41EEB24586F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2.5. Разработка приложения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64D9D82D-934B-8CF9-81F0-07C26D72320C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AA4E9132-1EF0-5049-F559-58C961D1487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2AAE2B0-7B21-EC96-C08D-CEDEF5C6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56" y="1286896"/>
            <a:ext cx="7022465" cy="542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12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70C3-F52F-BA67-EEF7-16679824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B2BC28-0FE0-09D0-CEEB-65FDB6FE5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6BF7709-D35A-2873-B0CF-0469E2EC00B6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674BED5-571C-7DBA-EEA3-0E816EEC5ADA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2.6. Создание удаленного репозитория и загрузка результатов работы на него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39A2FB2B-F793-824B-6286-A36915CB876F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7339AE8E-AFC5-BBF6-DC9B-AF2A81C563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AAE8832-3BB0-A73A-C6FB-B6FFDE73E86B}"/>
              </a:ext>
            </a:extLst>
          </p:cNvPr>
          <p:cNvSpPr txBox="1"/>
          <p:nvPr/>
        </p:nvSpPr>
        <p:spPr>
          <a:xfrm>
            <a:off x="1405188" y="1522149"/>
            <a:ext cx="9140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just">
              <a:lnSpc>
                <a:spcPct val="100000"/>
              </a:lnSpc>
              <a:buNone/>
              <a:tabLst>
                <a:tab pos="2057400" algn="l"/>
              </a:tabLst>
            </a:pPr>
            <a:r>
              <a:rPr lang="en-US" sz="2800" u="sng" dirty="0">
                <a:solidFill>
                  <a:srgbClr val="7030A0"/>
                </a:solidFill>
                <a:effectLst/>
                <a:latin typeface="Arial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https://github.com/va333av/VKR_Project/tree/master</a:t>
            </a:r>
            <a:endParaRPr lang="ru-RU" sz="2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E94EE-B155-E34B-0205-3731C5F41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422" y="2045369"/>
            <a:ext cx="6222546" cy="442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E244-4678-4650-1D39-E66DE104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65E371-2419-B18A-8969-3DFC446A6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E408002-AF26-648C-36D8-3833A0B675C9}"/>
              </a:ext>
            </a:extLst>
          </p:cNvPr>
          <p:cNvGrpSpPr/>
          <p:nvPr/>
        </p:nvGrpSpPr>
        <p:grpSpPr>
          <a:xfrm>
            <a:off x="3167880" y="469293"/>
            <a:ext cx="8141804" cy="666000"/>
            <a:chOff x="1476753" y="3499669"/>
            <a:chExt cx="9805763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9670755-027C-CBB0-E80B-F774D5106441}"/>
                </a:ext>
              </a:extLst>
            </p:cNvPr>
            <p:cNvSpPr/>
            <p:nvPr/>
          </p:nvSpPr>
          <p:spPr>
            <a:xfrm>
              <a:off x="1476753" y="3499669"/>
              <a:ext cx="9805763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ЗАКЛЮЧЕНИЕ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0966653C-7ED8-A3DD-0BF7-70F3DD913DC5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1AEA9D09-836C-21DC-3481-567FBB02385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F342431-CAE6-FA77-E88C-FD36C3647DCB}"/>
              </a:ext>
            </a:extLst>
          </p:cNvPr>
          <p:cNvSpPr txBox="1"/>
          <p:nvPr/>
        </p:nvSpPr>
        <p:spPr>
          <a:xfrm>
            <a:off x="1511968" y="1488029"/>
            <a:ext cx="94608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2057400" algn="l"/>
              </a:tabLst>
            </a:pP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Для решения практической задачи прогнозирования значений целевых параметров прочности материала построены три модели для прогноза модуля упругости при растяжении и прочности при растяжении: линейная регрессия,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Ridge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 и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Lasso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. Для обеих целевых переменных все три модели показали отрицательный R² на тестовой выборке, что означает отсутствие линейного сигнала в данных.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Ridge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 потребовал α = 233 (сильная регуляризация),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Lasso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 обнулил 6 из 10 признаков. Основная причина – зашумленность датасета синтетическими данными.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2057400" algn="l"/>
              </a:tabLst>
            </a:pP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Для решения практической задачи рекомендации «Соотношения матрица-наполнитель» на базе имеющегося малоразмерного датасета (469 строк) наиболее адекватным и точным инструментом признана оптимизированная модель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CatBoost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. Разработанный на ее основе графический интерфейс </a:t>
            </a:r>
            <a:r>
              <a:rPr lang="ru-RU" sz="2000" dirty="0" err="1">
                <a:effectLst/>
                <a:latin typeface="Arial"/>
                <a:ea typeface="Times New Roman" panose="02020603050405020304" pitchFamily="18" charset="0"/>
              </a:rPr>
              <a:t>Tkinter</a:t>
            </a:r>
            <a:r>
              <a:rPr lang="ru-RU" sz="2000" dirty="0">
                <a:effectLst/>
                <a:latin typeface="Arial"/>
                <a:ea typeface="Times New Roman" panose="02020603050405020304" pitchFamily="18" charset="0"/>
              </a:rPr>
              <a:t> предназначен для экспресс-оценки параметров композитных материалов с целю выбора оптимального соотношения матрица-наполнитель.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852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</TotalTime>
  <Words>427</Words>
  <Application>Microsoft Office PowerPoint</Application>
  <PresentationFormat>Widescreen</PresentationFormat>
  <Paragraphs>80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Open Sans</vt:lpstr>
      <vt:lpstr>ALS Sector Regular</vt:lpstr>
      <vt:lpstr>ALS Sector Bold</vt:lpstr>
      <vt:lpstr>Arial</vt:lpstr>
      <vt:lpstr>Noto Sans Symbols</vt:lpstr>
      <vt:lpstr>Times New Roman</vt:lpstr>
      <vt:lpstr>Wingdings</vt:lpstr>
      <vt:lpstr>If,kjyVUNE_28012021</vt:lpstr>
      <vt:lpstr> Прогнозирование конечных свойств новых материалов (композиционных материалов)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A10 01</cp:lastModifiedBy>
  <cp:revision>105</cp:revision>
  <dcterms:created xsi:type="dcterms:W3CDTF">2021-02-24T09:03:25Z</dcterms:created>
  <dcterms:modified xsi:type="dcterms:W3CDTF">2026-10-04T04:54:14Z</dcterms:modified>
</cp:coreProperties>
</file>